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presenting our Operating Systems project, the Virtual Memory Page Replacement Visualizer. It is a simulator that compares three page replacement algorithms: FIFO, LRU and Optimal. I will introduce the team first, then my teammates and I will walk through the concepts, the design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memory lets a program use more memory than the computer physically has, by keeping only some of its pages in RAM. A page is a fixed-size block of the program. A page frame is a slot in RAM that holds one page. In our example there are only 3 frames, so when a 4th page is needed, one old page must be replaced. Choosing which page to replace is the job of a page replacement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memory is limited, but programs keep asking for different pages. Every time we replace the wrong page, we may get an extra page fault, which slows the program down. So our project simulates three algorithms and compares them. We count page hits and faults, calculate the hit rate and fault rate, and finally write everything into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page hit means the page we need is already in a frame, so the access is fast. A page fault means the page is not in memory and must be loaded. If a frame is still empty, we just fill it. If all frames are full, we must replace one page. In this example, requests 1, 2 and 3 are faults because the frames start empty. The second request for page 1 is a hit. Request 4 is a fault and needs a replacement; here FIFO removes the oldest page, which is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FIFO means First-In, First-Out. We replace the page that has been in memory the longest, like a queue at a ticket counter. A hit does not change the order. Look at the table: pages 7, 0 and 1 load first. When page 2 arrives, 7 is the oldest, so it is replaced. At request 5, page 0 is a hit and nothing changes. At the end FIFO has 10 faults and 2 hits out of 12 requests. This is only a worked example, not the output of our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LRU means Least Recently Used. Instead of asking who came first, we ask who was used longest ago. Every access, even a hit, updates the recent-use information of that page. In the table, at request 6 the page 3 is needed. Among 2, 0 and 1, page 1 was used longest ago, so 1 is replaced, not 0, because 0 was just used. LRU ends with 9 faults and 3 hits on the same sequence, one fault fewer than FIFO. Again, this is only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Optimal algorithm looks into the future. It replaces the page whose next use is farthest away, or a page that is never used again. In the table, when page 4 arrives, pages 2, 0 and 3 are in memory; 0 is needed farthest in the future, so 0 is replaced. Optimal gives the fewest possible faults, 7 here, so we use it as a benchmark to judge FIFO and LRU. But a real operating system cannot know future requests, so Optimal is not directly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flow of our C program. First a page-reference workload is generated or selected. A producer process is created with fork(), and it sends the page requests through a named FIFO. Then we simulate Round Robin scheduling on these requests. The scheduled sequence is sent to three worker processes, one each for FIFO, LRU and Optimal. All three run independently on the same sequence. Finally the results are collected, page faults are compared, and a text report is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technologies and OS concepts we used. The program is written in C on Linux. fork() creates the producer process, and waitpid() lets the parent wait until child processes finish. A named FIFO carries page requests, and anonymous pipes connect to the algorithm workers. Round Robin scheduling is simulated, arrays track pages and frames, and file handling writes the report. Important: Round Robin and virtual memory are simulated in user space. We do not modify the real Linux scheduler or page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three algorithms. The replacement rule column is fixed. The hits, faults and fault rate columns are placeholders: fill them in from an actual run of the program before presenting. Fault rate is page faults divided by total page references, multiplied by 100. The most important point is fairness: all three algorithms run on the same scheduled page-reference sequence with the same number of frames. The numbers from our small worked example on slides 5 to 7 are only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are the features that already exist in our project: it makes page replacement easy to understand, compares all three algorithms under the same conditions, tracks hits, faults and replacement details, supports predefined and custom workloads, and writes a report. Limitations: Optimal needs future knowledge, we simulate virtual memory instead of changing real memory management, and results depend on the workload and frame count. Future scope items are only ideas for the future. They are not implemented yet, and we do not have a graphical interface at the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page replacement decides which page to remove when memory is full. FIFO removes the oldest page, LRU removes the least recently used page, and Optimal removes the page needed farthest in the future. We compare them using page faults; fewer faults mean better performance. Our project shows these operating-system ideas through simulation using processes, pipes and a named FIFO. Thank you, 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914400"/>
            <a:ext cx="10908792" cy="1463040"/>
          </a:xfrm>
          <a:prstGeom prst="rect">
            <a:avLst/>
          </a:prstGeom>
          <a:noFill/>
          <a:ln/>
        </p:spPr>
        <p:txBody>
          <a:bodyPr wrap="square" lIns="0" tIns="0" rIns="0" bIns="0" rtlCol="0" anchor="ctr"/>
          <a:lstStyle/>
          <a:p>
            <a:pPr algn="ctr" indent="0" marL="0">
              <a:buNone/>
            </a:pPr>
            <a:r>
              <a:rPr lang="en-US" sz="4400" b="1" dirty="0">
                <a:solidFill>
                  <a:srgbClr val="1A1A1A"/>
                </a:solidFill>
                <a:latin typeface="Calibri" pitchFamily="34" charset="0"/>
                <a:ea typeface="Calibri" pitchFamily="34" charset="-122"/>
                <a:cs typeface="Calibri" pitchFamily="34" charset="-120"/>
              </a:rPr>
              <a:t>Virtual Memory Page Replacement Visualizer</a:t>
            </a:r>
            <a:endParaRPr lang="en-US" sz="4400" dirty="0"/>
          </a:p>
        </p:txBody>
      </p:sp>
      <p:sp>
        <p:nvSpPr>
          <p:cNvPr id="4" name="Text 1"/>
          <p:cNvSpPr txBox="1"/>
          <p:nvPr/>
        </p:nvSpPr>
        <p:spPr>
          <a:xfrm>
            <a:off x="640080" y="2468880"/>
            <a:ext cx="10908792" cy="548640"/>
          </a:xfrm>
          <a:prstGeom prst="rect">
            <a:avLst/>
          </a:prstGeom>
          <a:noFill/>
          <a:ln/>
        </p:spPr>
        <p:txBody>
          <a:bodyPr wrap="square" lIns="0" tIns="0" rIns="0" bIns="0" rtlCol="0" anchor="t"/>
          <a:lstStyle/>
          <a:p>
            <a:pPr algn="ctr" indent="0" marL="0">
              <a:buNone/>
            </a:pPr>
            <a:r>
              <a:rPr lang="en-US" sz="2800" dirty="0">
                <a:solidFill>
                  <a:srgbClr val="595959"/>
                </a:solidFill>
                <a:latin typeface="Calibri" pitchFamily="34" charset="0"/>
                <a:ea typeface="Calibri" pitchFamily="34" charset="-122"/>
                <a:cs typeface="Calibri" pitchFamily="34" charset="-120"/>
              </a:rPr>
              <a:t>Operating Systems Project</a:t>
            </a:r>
            <a:endParaRPr lang="en-US" sz="2800" dirty="0"/>
          </a:p>
        </p:txBody>
      </p:sp>
      <p:sp>
        <p:nvSpPr>
          <p:cNvPr id="5" name="Text 2"/>
          <p:cNvSpPr txBox="1"/>
          <p:nvPr/>
        </p:nvSpPr>
        <p:spPr>
          <a:xfrm>
            <a:off x="640080" y="3063240"/>
            <a:ext cx="10908792" cy="457200"/>
          </a:xfrm>
          <a:prstGeom prst="rect">
            <a:avLst/>
          </a:prstGeom>
          <a:noFill/>
          <a:ln/>
        </p:spPr>
        <p:txBody>
          <a:bodyPr wrap="square" lIns="0" tIns="0" rIns="0" bIns="0" rtlCol="0" anchor="t"/>
          <a:lstStyle/>
          <a:p>
            <a:pPr algn="ctr" indent="0" marL="0">
              <a:buNone/>
            </a:pPr>
            <a:r>
              <a:rPr lang="en-US" sz="2200" dirty="0">
                <a:solidFill>
                  <a:srgbClr val="1A1A1A"/>
                </a:solidFill>
                <a:latin typeface="Calibri" pitchFamily="34" charset="0"/>
                <a:ea typeface="Calibri" pitchFamily="34" charset="-122"/>
                <a:cs typeface="Calibri" pitchFamily="34" charset="-120"/>
              </a:rPr>
              <a:t>Course: Operating Systems</a:t>
            </a:r>
            <a:endParaRPr lang="en-US" sz="2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898648" y="3931920"/>
          <a:ext cx="6400800" cy="914400"/>
        </p:xfrm>
        <a:graphic>
          <a:graphicData uri="http://schemas.openxmlformats.org/drawingml/2006/table">
            <a:tbl>
              <a:tblPr/>
              <a:tblGrid>
                <a:gridCol w="2194560"/>
                <a:gridCol w="4206240"/>
              </a:tblGrid>
              <a:tr h="457200">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Registration No.</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Team Member</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r>
              <a:tr h="457200">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2520030431</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Bolla Gopika Sai Sri Varshini</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57200">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2520030436</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Gottipati Eesha Yuktha</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57200">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2520030556</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Vanam Hamsini</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Introduction</a:t>
            </a:r>
            <a:endParaRPr lang="en-US" sz="3400" dirty="0"/>
          </a:p>
        </p:txBody>
      </p:sp>
      <p:sp>
        <p:nvSpPr>
          <p:cNvPr id="4" name="Text 1"/>
          <p:cNvSpPr txBox="1"/>
          <p:nvPr/>
        </p:nvSpPr>
        <p:spPr>
          <a:xfrm>
            <a:off x="640080" y="1280160"/>
            <a:ext cx="10908792" cy="29260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Virtual memory: lets a program use more memory than the RAM available, by keeping only some of its pages in memory</a:t>
            </a:r>
            <a:endParaRPr lang="en-US" sz="2000" dirty="0"/>
          </a:p>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Page: a fixed-size block of a program's memory</a:t>
            </a:r>
            <a:endParaRPr lang="en-US" sz="2000" dirty="0"/>
          </a:p>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Page frame: a fixed-size slot in RAM that holds exactly one page</a:t>
            </a:r>
            <a:endParaRPr lang="en-US" sz="2000" dirty="0"/>
          </a:p>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Page replacement: when all frames are full and a new page is needed, one page must be removed</a:t>
            </a:r>
            <a:endParaRPr lang="en-US" sz="2000" dirty="0"/>
          </a:p>
        </p:txBody>
      </p:sp>
      <p:sp>
        <p:nvSpPr>
          <p:cNvPr id="5" name="Text 2"/>
          <p:cNvSpPr txBox="1"/>
          <p:nvPr/>
        </p:nvSpPr>
        <p:spPr>
          <a:xfrm>
            <a:off x="640080" y="4343400"/>
            <a:ext cx="10908792" cy="365760"/>
          </a:xfrm>
          <a:prstGeom prst="rect">
            <a:avLst/>
          </a:prstGeom>
          <a:noFill/>
          <a:ln/>
        </p:spPr>
        <p:txBody>
          <a:bodyPr wrap="square" lIns="0" tIns="0" rIns="0" bIns="0" rtlCol="0" anchor="t"/>
          <a:lstStyle/>
          <a:p>
            <a:pPr algn="l" indent="0" marL="0">
              <a:buNone/>
            </a:pPr>
            <a:r>
              <a:rPr lang="en-US" sz="2000" b="1" dirty="0">
                <a:solidFill>
                  <a:srgbClr val="1A1A1A"/>
                </a:solidFill>
                <a:latin typeface="Calibri" pitchFamily="34" charset="0"/>
                <a:ea typeface="Calibri" pitchFamily="34" charset="-122"/>
                <a:cs typeface="Calibri" pitchFamily="34" charset="-120"/>
              </a:rPr>
              <a:t>Small example</a:t>
            </a:r>
            <a:endParaRPr lang="en-US" sz="2000" dirty="0"/>
          </a:p>
        </p:txBody>
      </p:sp>
      <p:sp>
        <p:nvSpPr>
          <p:cNvPr id="6" name="Text 3"/>
          <p:cNvSpPr txBox="1"/>
          <p:nvPr/>
        </p:nvSpPr>
        <p:spPr>
          <a:xfrm>
            <a:off x="640080" y="4754880"/>
            <a:ext cx="10908792" cy="1463040"/>
          </a:xfrm>
          <a:prstGeom prst="rect">
            <a:avLst/>
          </a:prstGeom>
          <a:noFill/>
          <a:ln/>
        </p:spPr>
        <p:txBody>
          <a:bodyPr wrap="square" lIns="0" tIns="0" rIns="0" bIns="0" rtlCol="0" anchor="t"/>
          <a:lstStyle/>
          <a:p>
            <a:pPr marL="342900" indent="-342900">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RAM has 3 frames. Frames hold pages 1, 2, 3 (all full)</a:t>
            </a:r>
            <a:endParaRPr lang="en-US" sz="1800" dirty="0"/>
          </a:p>
          <a:p>
            <a:pPr marL="342900" indent="-342900">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The program now asks for page 4, so one of 1, 2 or 3 must be replaced</a:t>
            </a:r>
            <a:endParaRPr lang="en-US" sz="1800" dirty="0"/>
          </a:p>
          <a:p>
            <a:pPr marL="342900" indent="-342900">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The replacement algorithm decides which one</a:t>
            </a:r>
            <a:endParaRPr lang="en-US" sz="18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Problem Statement and Objectives</a:t>
            </a:r>
            <a:endParaRPr lang="en-US" sz="3400" dirty="0"/>
          </a:p>
        </p:txBody>
      </p:sp>
      <p:sp>
        <p:nvSpPr>
          <p:cNvPr id="4" name="Text 1"/>
          <p:cNvSpPr txBox="1"/>
          <p:nvPr/>
        </p:nvSpPr>
        <p:spPr>
          <a:xfrm>
            <a:off x="640080" y="1280160"/>
            <a:ext cx="5120640" cy="411480"/>
          </a:xfrm>
          <a:prstGeom prst="rect">
            <a:avLst/>
          </a:prstGeom>
          <a:noFill/>
          <a:ln/>
        </p:spPr>
        <p:txBody>
          <a:bodyPr wrap="square" lIns="0" tIns="0" rIns="0" bIns="0" rtlCol="0" anchor="t"/>
          <a:lstStyle/>
          <a:p>
            <a:pPr algn="l" indent="0" marL="0">
              <a:buNone/>
            </a:pPr>
            <a:r>
              <a:rPr lang="en-US" sz="2400" b="1" dirty="0">
                <a:solidFill>
                  <a:srgbClr val="1A1A1A"/>
                </a:solidFill>
                <a:latin typeface="Calibri" pitchFamily="34" charset="0"/>
                <a:ea typeface="Calibri" pitchFamily="34" charset="-122"/>
                <a:cs typeface="Calibri" pitchFamily="34" charset="-120"/>
              </a:rPr>
              <a:t>Problem</a:t>
            </a:r>
            <a:endParaRPr lang="en-US" sz="2400" dirty="0"/>
          </a:p>
        </p:txBody>
      </p:sp>
      <p:sp>
        <p:nvSpPr>
          <p:cNvPr id="5" name="Text 2"/>
          <p:cNvSpPr txBox="1"/>
          <p:nvPr/>
        </p:nvSpPr>
        <p:spPr>
          <a:xfrm>
            <a:off x="640080" y="1783080"/>
            <a:ext cx="5120640" cy="41148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Memory frames are limited</a:t>
            </a:r>
            <a:endParaRPr lang="en-US" sz="2000" dirty="0"/>
          </a:p>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Programs request many different pages</a:t>
            </a:r>
            <a:endParaRPr lang="en-US" sz="2000" dirty="0"/>
          </a:p>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When frames are full, one page must be replaced</a:t>
            </a:r>
            <a:endParaRPr lang="en-US" sz="2000" dirty="0"/>
          </a:p>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A poor choice causes more page faults and slows the program</a:t>
            </a:r>
            <a:endParaRPr lang="en-US" sz="2000" dirty="0"/>
          </a:p>
        </p:txBody>
      </p:sp>
      <p:sp>
        <p:nvSpPr>
          <p:cNvPr id="6" name="Text 3"/>
          <p:cNvSpPr txBox="1"/>
          <p:nvPr/>
        </p:nvSpPr>
        <p:spPr>
          <a:xfrm>
            <a:off x="6309360" y="1280160"/>
            <a:ext cx="5212080" cy="411480"/>
          </a:xfrm>
          <a:prstGeom prst="rect">
            <a:avLst/>
          </a:prstGeom>
          <a:noFill/>
          <a:ln/>
        </p:spPr>
        <p:txBody>
          <a:bodyPr wrap="square" lIns="0" tIns="0" rIns="0" bIns="0" rtlCol="0" anchor="t"/>
          <a:lstStyle/>
          <a:p>
            <a:pPr algn="l" indent="0" marL="0">
              <a:buNone/>
            </a:pPr>
            <a:r>
              <a:rPr lang="en-US" sz="2400" b="1" dirty="0">
                <a:solidFill>
                  <a:srgbClr val="1A1A1A"/>
                </a:solidFill>
                <a:latin typeface="Calibri" pitchFamily="34" charset="0"/>
                <a:ea typeface="Calibri" pitchFamily="34" charset="-122"/>
                <a:cs typeface="Calibri" pitchFamily="34" charset="-120"/>
              </a:rPr>
              <a:t>Objectives</a:t>
            </a:r>
            <a:endParaRPr lang="en-US" sz="2400" dirty="0"/>
          </a:p>
        </p:txBody>
      </p:sp>
      <p:sp>
        <p:nvSpPr>
          <p:cNvPr id="7" name="Text 4"/>
          <p:cNvSpPr txBox="1"/>
          <p:nvPr/>
        </p:nvSpPr>
        <p:spPr>
          <a:xfrm>
            <a:off x="6309360" y="1783080"/>
            <a:ext cx="5212080" cy="41148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Simulate page replacement algorithms</a:t>
            </a:r>
            <a:endParaRPr lang="en-US" sz="2000" dirty="0"/>
          </a:p>
          <a:p>
            <a:pPr marL="342900" indent="-342900">
              <a:spcAft>
                <a:spcPts val="8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Compare FIFO, LRU and Optimal</a:t>
            </a:r>
            <a:endParaRPr lang="en-US" sz="2000" dirty="0"/>
          </a:p>
          <a:p>
            <a:pPr marL="342900" indent="-342900">
              <a:spcAft>
                <a:spcPts val="8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Count page hits and page faults</a:t>
            </a:r>
            <a:endParaRPr lang="en-US" sz="2000" dirty="0"/>
          </a:p>
          <a:p>
            <a:pPr marL="342900" indent="-342900">
              <a:spcAft>
                <a:spcPts val="8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Calculate hit rates and fault rates</a:t>
            </a:r>
            <a:endParaRPr lang="en-US" sz="2000" dirty="0"/>
          </a:p>
          <a:p>
            <a:pPr marL="342900" indent="-342900">
              <a:spcAft>
                <a:spcPts val="8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Generate a report of the results</a:t>
            </a:r>
            <a:endParaRPr lang="en-US" sz="2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Page Hits and Page Faults</a:t>
            </a:r>
            <a:endParaRPr lang="en-US" sz="3400" dirty="0"/>
          </a:p>
        </p:txBody>
      </p:sp>
      <p:sp>
        <p:nvSpPr>
          <p:cNvPr id="4" name="Text 1"/>
          <p:cNvSpPr txBox="1"/>
          <p:nvPr/>
        </p:nvSpPr>
        <p:spPr>
          <a:xfrm>
            <a:off x="640080" y="1280160"/>
            <a:ext cx="10908792" cy="17373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Page hit: the requested page is already in memory</a:t>
            </a:r>
            <a:endParaRPr lang="en-US" sz="2000" dirty="0"/>
          </a:p>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Page fault: the requested page is not in memory and must be loaded</a:t>
            </a:r>
            <a:endParaRPr lang="en-US" sz="2000" dirty="0"/>
          </a:p>
          <a:p>
            <a:pPr marL="342900" indent="-342900">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If all frames are occupied, a page must be replaced</a:t>
            </a:r>
            <a:endParaRPr lang="en-US" sz="2000" dirty="0"/>
          </a:p>
        </p:txBody>
      </p:sp>
      <p:sp>
        <p:nvSpPr>
          <p:cNvPr id="5" name="Text 2"/>
          <p:cNvSpPr txBox="1"/>
          <p:nvPr/>
        </p:nvSpPr>
        <p:spPr>
          <a:xfrm>
            <a:off x="640080" y="3063240"/>
            <a:ext cx="10908792" cy="411480"/>
          </a:xfrm>
          <a:prstGeom prst="rect">
            <a:avLst/>
          </a:prstGeom>
          <a:noFill/>
          <a:ln/>
        </p:spPr>
        <p:txBody>
          <a:bodyPr wrap="square" lIns="0" tIns="0" rIns="0" bIns="0" rtlCol="0" anchor="t"/>
          <a:lstStyle/>
          <a:p>
            <a:pPr algn="l" indent="0" marL="0">
              <a:buNone/>
            </a:pPr>
            <a:r>
              <a:rPr lang="en-US" sz="1800" b="1" dirty="0">
                <a:solidFill>
                  <a:srgbClr val="1A1A1A"/>
                </a:solidFill>
                <a:latin typeface="Calibri" pitchFamily="34" charset="0"/>
                <a:ea typeface="Calibri" pitchFamily="34" charset="-122"/>
                <a:cs typeface="Calibri" pitchFamily="34" charset="-120"/>
              </a:rPr>
              <a:t>Example: 3 frames, reference sequence 1, 2, 3, 1, 4  (FIFO replacement shown)</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3566160"/>
          <a:ext cx="10908792" cy="914400"/>
        </p:xfrm>
        <a:graphic>
          <a:graphicData uri="http://schemas.openxmlformats.org/drawingml/2006/table">
            <a:tbl>
              <a:tblPr/>
              <a:tblGrid>
                <a:gridCol w="1463040"/>
                <a:gridCol w="1889150"/>
                <a:gridCol w="1889150"/>
                <a:gridCol w="1889150"/>
                <a:gridCol w="1889150"/>
                <a:gridCol w="1889150"/>
              </a:tblGrid>
              <a:tr h="411480">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Request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r>
              <a:tr h="411480">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Frame 1</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Frame 2</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Frame 3</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Fault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Fault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Fault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Hit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Fault</a:t>
                      </a:r>
                      <a:endParaRPr lang="en-US" sz="18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bl>
          </a:graphicData>
        </a:graphic>
      </p:graphicFrame>
      <p:sp>
        <p:nvSpPr>
          <p:cNvPr id="7" name="Text 3"/>
          <p:cNvSpPr txBox="1"/>
          <p:nvPr/>
        </p:nvSpPr>
        <p:spPr>
          <a:xfrm>
            <a:off x="640080" y="5760720"/>
            <a:ext cx="10908792" cy="548640"/>
          </a:xfrm>
          <a:prstGeom prst="rect">
            <a:avLst/>
          </a:prstGeom>
          <a:noFill/>
          <a:ln/>
        </p:spPr>
        <p:txBody>
          <a:bodyPr wrap="square" lIns="0" tIns="0" rIns="0" bIns="0" rtlCol="0" anchor="t"/>
          <a:lstStyle/>
          <a:p>
            <a:pPr algn="l" indent="0" marL="0">
              <a:buNone/>
            </a:pPr>
            <a:r>
              <a:rPr lang="en-US" sz="1600" dirty="0">
                <a:solidFill>
                  <a:srgbClr val="595959"/>
                </a:solidFill>
                <a:latin typeface="Calibri" pitchFamily="34" charset="0"/>
                <a:ea typeface="Calibri" pitchFamily="34" charset="-122"/>
                <a:cs typeface="Calibri" pitchFamily="34" charset="-120"/>
              </a:rPr>
              <a:t>Requests 1, 2, 3: frames are empty, so these are faults. Second request for 1: hit. Request 4: fault and the frames are full, so page 1 is replaced.</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FIFO Page Replacement Algorithm</a:t>
            </a:r>
            <a:endParaRPr lang="en-US" sz="3400" dirty="0"/>
          </a:p>
        </p:txBody>
      </p:sp>
      <p:sp>
        <p:nvSpPr>
          <p:cNvPr id="4" name="Text 1"/>
          <p:cNvSpPr txBox="1"/>
          <p:nvPr/>
        </p:nvSpPr>
        <p:spPr>
          <a:xfrm>
            <a:off x="640080" y="1234440"/>
            <a:ext cx="10908792" cy="155448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Replaces the page that entered memory first</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Follows the order in which pages were loaded (like a queue)</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A page hit does not change the replacement order</a:t>
            </a:r>
            <a:endParaRPr lang="en-US" sz="2000" dirty="0"/>
          </a:p>
        </p:txBody>
      </p:sp>
      <p:sp>
        <p:nvSpPr>
          <p:cNvPr id="5" name="Text 2"/>
          <p:cNvSpPr txBox="1"/>
          <p:nvPr/>
        </p:nvSpPr>
        <p:spPr>
          <a:xfrm>
            <a:off x="640080" y="2880360"/>
            <a:ext cx="10908792" cy="365760"/>
          </a:xfrm>
          <a:prstGeom prst="rect">
            <a:avLst/>
          </a:prstGeom>
          <a:noFill/>
          <a:ln/>
        </p:spPr>
        <p:txBody>
          <a:bodyPr wrap="square" lIns="0" tIns="0" rIns="0" bIns="0" rtlCol="0" anchor="t"/>
          <a:lstStyle/>
          <a:p>
            <a:pPr algn="l" indent="0" marL="0">
              <a:buNone/>
            </a:pPr>
            <a:r>
              <a:rPr lang="en-US" sz="1800" b="1" dirty="0">
                <a:solidFill>
                  <a:srgbClr val="1A1A1A"/>
                </a:solidFill>
                <a:latin typeface="Calibri" pitchFamily="34" charset="0"/>
                <a:ea typeface="Calibri" pitchFamily="34" charset="-122"/>
                <a:cs typeface="Calibri" pitchFamily="34" charset="-120"/>
              </a:rPr>
              <a:t>Example: 3 frames, sequence 7 0 1 2 0 3 0 4 2 3 0 3</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3337560"/>
          <a:ext cx="10908792" cy="914400"/>
        </p:xfrm>
        <a:graphic>
          <a:graphicData uri="http://schemas.openxmlformats.org/drawingml/2006/table">
            <a:tbl>
              <a:tblPr/>
              <a:tblGrid>
                <a:gridCol w="1188720"/>
                <a:gridCol w="810006"/>
                <a:gridCol w="810006"/>
                <a:gridCol w="810006"/>
                <a:gridCol w="810006"/>
                <a:gridCol w="810006"/>
                <a:gridCol w="810006"/>
                <a:gridCol w="810006"/>
                <a:gridCol w="810006"/>
                <a:gridCol w="810006"/>
                <a:gridCol w="810006"/>
                <a:gridCol w="810006"/>
                <a:gridCol w="810006"/>
              </a:tblGrid>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Request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Result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bl>
          </a:graphicData>
        </a:graphic>
      </p:graphicFrame>
      <p:sp>
        <p:nvSpPr>
          <p:cNvPr id="7" name="Text 3"/>
          <p:cNvSpPr txBox="1"/>
          <p:nvPr/>
        </p:nvSpPr>
        <p:spPr>
          <a:xfrm>
            <a:off x="640080" y="5532120"/>
            <a:ext cx="10908792" cy="640080"/>
          </a:xfrm>
          <a:prstGeom prst="rect">
            <a:avLst/>
          </a:prstGeom>
          <a:noFill/>
          <a:ln/>
        </p:spPr>
        <p:txBody>
          <a:bodyPr wrap="square" lIns="0" tIns="0" rIns="0" bIns="0" rtlCol="0" anchor="t"/>
          <a:lstStyle/>
          <a:p>
            <a:pPr algn="l" indent="0" marL="0">
              <a:buNone/>
            </a:pPr>
            <a:r>
              <a:rPr lang="en-US" sz="1600" dirty="0">
                <a:solidFill>
                  <a:srgbClr val="595959"/>
                </a:solidFill>
                <a:latin typeface="Calibri" pitchFamily="34" charset="0"/>
                <a:ea typeface="Calibri" pitchFamily="34" charset="-122"/>
                <a:cs typeface="Calibri" pitchFamily="34" charset="-120"/>
              </a:rPr>
              <a:t>F = page fault, H = page hit.  Result: 10 faults, 2 hits (out of 12 requests).  When 2 arrives, 7 is oldest, so 7 is replaced.</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LRU Page Replacement Algorithm</a:t>
            </a:r>
            <a:endParaRPr lang="en-US" sz="3400" dirty="0"/>
          </a:p>
        </p:txBody>
      </p:sp>
      <p:sp>
        <p:nvSpPr>
          <p:cNvPr id="4" name="Text 1"/>
          <p:cNvSpPr txBox="1"/>
          <p:nvPr/>
        </p:nvSpPr>
        <p:spPr>
          <a:xfrm>
            <a:off x="640080" y="1234440"/>
            <a:ext cx="10908792" cy="155448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Replaces the page that has not been used for the longest time</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Looks at recent page usage, not loading order</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Every access (hit or fault) updates the page's recent-use information</a:t>
            </a:r>
            <a:endParaRPr lang="en-US" sz="2000" dirty="0"/>
          </a:p>
        </p:txBody>
      </p:sp>
      <p:sp>
        <p:nvSpPr>
          <p:cNvPr id="5" name="Text 2"/>
          <p:cNvSpPr txBox="1"/>
          <p:nvPr/>
        </p:nvSpPr>
        <p:spPr>
          <a:xfrm>
            <a:off x="640080" y="2880360"/>
            <a:ext cx="10908792" cy="365760"/>
          </a:xfrm>
          <a:prstGeom prst="rect">
            <a:avLst/>
          </a:prstGeom>
          <a:noFill/>
          <a:ln/>
        </p:spPr>
        <p:txBody>
          <a:bodyPr wrap="square" lIns="0" tIns="0" rIns="0" bIns="0" rtlCol="0" anchor="t"/>
          <a:lstStyle/>
          <a:p>
            <a:pPr algn="l" indent="0" marL="0">
              <a:buNone/>
            </a:pPr>
            <a:r>
              <a:rPr lang="en-US" sz="1800" b="1" dirty="0">
                <a:solidFill>
                  <a:srgbClr val="1A1A1A"/>
                </a:solidFill>
                <a:latin typeface="Calibri" pitchFamily="34" charset="0"/>
                <a:ea typeface="Calibri" pitchFamily="34" charset="-122"/>
                <a:cs typeface="Calibri" pitchFamily="34" charset="-120"/>
              </a:rPr>
              <a:t>Example: 3 frames, sequence 7 0 1 2 0 3 0 4 2 3 0 3</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3337560"/>
          <a:ext cx="10908792" cy="914400"/>
        </p:xfrm>
        <a:graphic>
          <a:graphicData uri="http://schemas.openxmlformats.org/drawingml/2006/table">
            <a:tbl>
              <a:tblPr/>
              <a:tblGrid>
                <a:gridCol w="1188720"/>
                <a:gridCol w="810006"/>
                <a:gridCol w="810006"/>
                <a:gridCol w="810006"/>
                <a:gridCol w="810006"/>
                <a:gridCol w="810006"/>
                <a:gridCol w="810006"/>
                <a:gridCol w="810006"/>
                <a:gridCol w="810006"/>
                <a:gridCol w="810006"/>
                <a:gridCol w="810006"/>
                <a:gridCol w="810006"/>
                <a:gridCol w="810006"/>
              </a:tblGrid>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Request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Result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bl>
          </a:graphicData>
        </a:graphic>
      </p:graphicFrame>
      <p:sp>
        <p:nvSpPr>
          <p:cNvPr id="7" name="Text 3"/>
          <p:cNvSpPr txBox="1"/>
          <p:nvPr/>
        </p:nvSpPr>
        <p:spPr>
          <a:xfrm>
            <a:off x="640080" y="5532120"/>
            <a:ext cx="10908792" cy="640080"/>
          </a:xfrm>
          <a:prstGeom prst="rect">
            <a:avLst/>
          </a:prstGeom>
          <a:noFill/>
          <a:ln/>
        </p:spPr>
        <p:txBody>
          <a:bodyPr wrap="square" lIns="0" tIns="0" rIns="0" bIns="0" rtlCol="0" anchor="t"/>
          <a:lstStyle/>
          <a:p>
            <a:pPr algn="l" indent="0" marL="0">
              <a:buNone/>
            </a:pPr>
            <a:r>
              <a:rPr lang="en-US" sz="1600" dirty="0">
                <a:solidFill>
                  <a:srgbClr val="595959"/>
                </a:solidFill>
                <a:latin typeface="Calibri" pitchFamily="34" charset="0"/>
                <a:ea typeface="Calibri" pitchFamily="34" charset="-122"/>
                <a:cs typeface="Calibri" pitchFamily="34" charset="-120"/>
              </a:rPr>
              <a:t>Result: 9 faults, 3 hits.  When 3 arrives, page 1 was used longest ago, so 1 is replaced (page 0 was just used).</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Optimal Page Replacement Algorithm</a:t>
            </a:r>
            <a:endParaRPr lang="en-US" sz="3400" dirty="0"/>
          </a:p>
        </p:txBody>
      </p:sp>
      <p:sp>
        <p:nvSpPr>
          <p:cNvPr id="4" name="Text 1"/>
          <p:cNvSpPr txBox="1"/>
          <p:nvPr/>
        </p:nvSpPr>
        <p:spPr>
          <a:xfrm>
            <a:off x="640080" y="1234440"/>
            <a:ext cx="10908792" cy="1828800"/>
          </a:xfrm>
          <a:prstGeom prst="rect">
            <a:avLst/>
          </a:prstGeom>
          <a:noFill/>
          <a:ln/>
        </p:spPr>
        <p:txBody>
          <a:bodyPr wrap="square" lIns="0" tIns="0" rIns="0" bIns="0" rtlCol="0" anchor="t"/>
          <a:lstStyle/>
          <a:p>
            <a:pPr marL="342900" indent="-342900">
              <a:spcAft>
                <a:spcPts val="400"/>
              </a:spcAft>
              <a:buSzPct val="100000"/>
              <a:buChar char="•"/>
            </a:pPr>
            <a:r>
              <a:rPr lang="en-US" sz="1900" dirty="0">
                <a:solidFill>
                  <a:srgbClr val="1A1A1A"/>
                </a:solidFill>
                <a:latin typeface="Calibri" pitchFamily="34" charset="0"/>
                <a:ea typeface="Calibri" pitchFamily="34" charset="-122"/>
                <a:cs typeface="Calibri" pitchFamily="34" charset="-120"/>
              </a:rPr>
              <a:t>Replaces the page whose next use is farthest in the future</a:t>
            </a:r>
            <a:endParaRPr lang="en-US" sz="1900" dirty="0"/>
          </a:p>
          <a:p>
            <a:pPr marL="342900" indent="-342900">
              <a:spcAft>
                <a:spcPts val="400"/>
              </a:spcAft>
              <a:buSzPct val="100000"/>
              <a:buChar char="•"/>
            </a:pPr>
            <a:r>
              <a:rPr lang="en-US" sz="1900" dirty="0">
                <a:solidFill>
                  <a:srgbClr val="1A1A1A"/>
                </a:solidFill>
                <a:latin typeface="Calibri" pitchFamily="34" charset="0"/>
                <a:ea typeface="Calibri" pitchFamily="34" charset="-122"/>
                <a:cs typeface="Calibri" pitchFamily="34" charset="-120"/>
              </a:rPr>
              <a:t>A page that is never used again is the best candidate to replace</a:t>
            </a:r>
            <a:endParaRPr lang="en-US" sz="1900" dirty="0"/>
          </a:p>
          <a:p>
            <a:pPr marL="342900" indent="-342900">
              <a:spcAft>
                <a:spcPts val="400"/>
              </a:spcAft>
              <a:buSzPct val="100000"/>
              <a:buChar char="•"/>
            </a:pPr>
            <a:r>
              <a:rPr lang="en-US" sz="1900" dirty="0">
                <a:solidFill>
                  <a:srgbClr val="1A1A1A"/>
                </a:solidFill>
                <a:latin typeface="Calibri" pitchFamily="34" charset="0"/>
                <a:ea typeface="Calibri" pitchFamily="34" charset="-122"/>
                <a:cs typeface="Calibri" pitchFamily="34" charset="-120"/>
              </a:rPr>
              <a:t>Gives the minimum page faults, so it is a theoretical benchmark</a:t>
            </a:r>
            <a:endParaRPr lang="en-US" sz="1900" dirty="0"/>
          </a:p>
          <a:p>
            <a:pPr marL="342900" indent="-342900">
              <a:spcAft>
                <a:spcPts val="400"/>
              </a:spcAft>
              <a:buSzPct val="100000"/>
              <a:buChar char="•"/>
            </a:pPr>
            <a:r>
              <a:rPr lang="en-US" sz="1900" dirty="0">
                <a:solidFill>
                  <a:srgbClr val="1A1A1A"/>
                </a:solidFill>
                <a:latin typeface="Calibri" pitchFamily="34" charset="0"/>
                <a:ea typeface="Calibri" pitchFamily="34" charset="-122"/>
                <a:cs typeface="Calibri" pitchFamily="34" charset="-120"/>
              </a:rPr>
              <a:t>Needs future knowledge of page references, so it is not practical in a real OS</a:t>
            </a:r>
            <a:endParaRPr lang="en-US" sz="1900" dirty="0"/>
          </a:p>
        </p:txBody>
      </p:sp>
      <p:sp>
        <p:nvSpPr>
          <p:cNvPr id="5" name="Text 2"/>
          <p:cNvSpPr txBox="1"/>
          <p:nvPr/>
        </p:nvSpPr>
        <p:spPr>
          <a:xfrm>
            <a:off x="640080" y="3108960"/>
            <a:ext cx="10908792" cy="365760"/>
          </a:xfrm>
          <a:prstGeom prst="rect">
            <a:avLst/>
          </a:prstGeom>
          <a:noFill/>
          <a:ln/>
        </p:spPr>
        <p:txBody>
          <a:bodyPr wrap="square" lIns="0" tIns="0" rIns="0" bIns="0" rtlCol="0" anchor="t"/>
          <a:lstStyle/>
          <a:p>
            <a:pPr algn="l" indent="0" marL="0">
              <a:buNone/>
            </a:pPr>
            <a:r>
              <a:rPr lang="en-US" sz="1800" b="1" dirty="0">
                <a:solidFill>
                  <a:srgbClr val="1A1A1A"/>
                </a:solidFill>
                <a:latin typeface="Calibri" pitchFamily="34" charset="0"/>
                <a:ea typeface="Calibri" pitchFamily="34" charset="-122"/>
                <a:cs typeface="Calibri" pitchFamily="34" charset="-120"/>
              </a:rPr>
              <a:t>Example: 3 frames, sequence 7 0 1 2 0 3 0 4 2 3 0 3</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3520440"/>
          <a:ext cx="10908792" cy="914400"/>
        </p:xfrm>
        <a:graphic>
          <a:graphicData uri="http://schemas.openxmlformats.org/drawingml/2006/table">
            <a:tbl>
              <a:tblPr/>
              <a:tblGrid>
                <a:gridCol w="1188720"/>
                <a:gridCol w="810006"/>
                <a:gridCol w="810006"/>
                <a:gridCol w="810006"/>
                <a:gridCol w="810006"/>
                <a:gridCol w="810006"/>
                <a:gridCol w="810006"/>
                <a:gridCol w="810006"/>
                <a:gridCol w="810006"/>
                <a:gridCol w="810006"/>
                <a:gridCol w="810006"/>
                <a:gridCol w="810006"/>
                <a:gridCol w="810006"/>
              </a:tblGrid>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Request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2</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Frame 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dirty="0">
                          <a:solidFill>
                            <a:srgbClr val="1A1A1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11480">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Result</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600" b="1" dirty="0">
                          <a:solidFill>
                            <a:srgbClr val="1A1A1A"/>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bl>
          </a:graphicData>
        </a:graphic>
      </p:graphicFrame>
      <p:sp>
        <p:nvSpPr>
          <p:cNvPr id="7" name="Text 3"/>
          <p:cNvSpPr txBox="1"/>
          <p:nvPr/>
        </p:nvSpPr>
        <p:spPr>
          <a:xfrm>
            <a:off x="640080" y="5715000"/>
            <a:ext cx="10908792" cy="548640"/>
          </a:xfrm>
          <a:prstGeom prst="rect">
            <a:avLst/>
          </a:prstGeom>
          <a:noFill/>
          <a:ln/>
        </p:spPr>
        <p:txBody>
          <a:bodyPr wrap="square" lIns="0" tIns="0" rIns="0" bIns="0" rtlCol="0" anchor="t"/>
          <a:lstStyle/>
          <a:p>
            <a:pPr algn="l" indent="0" marL="0">
              <a:buNone/>
            </a:pPr>
            <a:r>
              <a:rPr lang="en-US" sz="1600" dirty="0">
                <a:solidFill>
                  <a:srgbClr val="595959"/>
                </a:solidFill>
                <a:latin typeface="Calibri" pitchFamily="34" charset="0"/>
                <a:ea typeface="Calibri" pitchFamily="34" charset="-122"/>
                <a:cs typeface="Calibri" pitchFamily="34" charset="-120"/>
              </a:rPr>
              <a:t>Result: 7 faults, 5 hits.  When 4 arrives, page 0 is needed farthest in the future, so 0 is replaced.</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System Design and Working</a:t>
            </a:r>
            <a:endParaRPr lang="en-US" sz="3400" dirty="0"/>
          </a:p>
        </p:txBody>
      </p:sp>
      <p:sp>
        <p:nvSpPr>
          <p:cNvPr id="4" name="Text 1"/>
          <p:cNvSpPr txBox="1"/>
          <p:nvPr/>
        </p:nvSpPr>
        <p:spPr>
          <a:xfrm>
            <a:off x="640080" y="1280160"/>
            <a:ext cx="10908792"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Generate or select a page-reference workload</a:t>
            </a:r>
            <a:endParaRPr lang="en-US" sz="2000" dirty="0"/>
          </a:p>
          <a:p>
            <a:pPr marL="342900" indent="-342900">
              <a:spcAft>
                <a:spcPts val="6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Create a producer process using fork()</a:t>
            </a:r>
            <a:endParaRPr lang="en-US" sz="2000" dirty="0"/>
          </a:p>
          <a:p>
            <a:pPr marL="342900" indent="-342900">
              <a:spcAft>
                <a:spcPts val="6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Transfer page requests through a named FIFO</a:t>
            </a:r>
            <a:endParaRPr lang="en-US" sz="2000" dirty="0"/>
          </a:p>
          <a:p>
            <a:pPr marL="342900" indent="-342900">
              <a:spcAft>
                <a:spcPts val="6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Simulate Round Robin scheduling</a:t>
            </a:r>
            <a:endParaRPr lang="en-US" sz="2000" dirty="0"/>
          </a:p>
          <a:p>
            <a:pPr marL="342900" indent="-342900">
              <a:spcAft>
                <a:spcPts val="6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Send the scheduled reference sequence to three worker processes</a:t>
            </a:r>
            <a:endParaRPr lang="en-US" sz="2000" dirty="0"/>
          </a:p>
          <a:p>
            <a:pPr marL="342900" indent="-342900">
              <a:spcAft>
                <a:spcPts val="6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Run FIFO, LRU and Optimal independently</a:t>
            </a:r>
            <a:endParaRPr lang="en-US" sz="2000" dirty="0"/>
          </a:p>
          <a:p>
            <a:pPr marL="342900" indent="-342900">
              <a:spcAft>
                <a:spcPts val="6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Collect results and compare page faults</a:t>
            </a:r>
            <a:endParaRPr lang="en-US" sz="2000" dirty="0"/>
          </a:p>
          <a:p>
            <a:pPr marL="342900" indent="-342900">
              <a:spcAft>
                <a:spcPts val="600"/>
              </a:spcAft>
              <a:buSzPct val="100000"/>
              <a:buFont typeface="+mj-lt"/>
              <a:buAutoNum type="arabicPeriod" startAt="1"/>
            </a:pPr>
            <a:r>
              <a:rPr lang="en-US" sz="2000" dirty="0">
                <a:solidFill>
                  <a:srgbClr val="1A1A1A"/>
                </a:solidFill>
                <a:latin typeface="Calibri" pitchFamily="34" charset="0"/>
                <a:ea typeface="Calibri" pitchFamily="34" charset="-122"/>
                <a:cs typeface="Calibri" pitchFamily="34" charset="-120"/>
              </a:rPr>
              <a:t>Generate a text report</a:t>
            </a:r>
            <a:endParaRPr lang="en-US" sz="2000" dirty="0"/>
          </a:p>
        </p:txBody>
      </p:sp>
      <p:sp>
        <p:nvSpPr>
          <p:cNvPr id="5" name="Text 2"/>
          <p:cNvSpPr txBox="1"/>
          <p:nvPr/>
        </p:nvSpPr>
        <p:spPr>
          <a:xfrm>
            <a:off x="640080" y="5577840"/>
            <a:ext cx="10908792" cy="640080"/>
          </a:xfrm>
          <a:prstGeom prst="rect">
            <a:avLst/>
          </a:prstGeom>
          <a:noFill/>
          <a:ln/>
        </p:spPr>
        <p:txBody>
          <a:bodyPr wrap="square" lIns="0" tIns="0" rIns="0" bIns="0" rtlCol="0" anchor="t"/>
          <a:lstStyle/>
          <a:p>
            <a:pPr algn="l" indent="0" marL="0">
              <a:buNone/>
            </a:pPr>
            <a:r>
              <a:rPr lang="en-US" sz="1600" b="1" dirty="0">
                <a:solidFill>
                  <a:srgbClr val="595959"/>
                </a:solidFill>
                <a:latin typeface="Calibri" pitchFamily="34" charset="0"/>
                <a:ea typeface="Calibri" pitchFamily="34" charset="-122"/>
                <a:cs typeface="Calibri" pitchFamily="34" charset="-120"/>
              </a:rPr>
              <a:t>Flow:  Workload  &gt;  Producer (fork)  &gt;  Named FIFO  &gt;  Round Robin  &gt;  3 Workers (FIFO, LRU, Optimal)  &gt;  Compare  &gt;  Report</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Technologies and Implementation</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08792" cy="914400"/>
        </p:xfrm>
        <a:graphic>
          <a:graphicData uri="http://schemas.openxmlformats.org/drawingml/2006/table">
            <a:tbl>
              <a:tblPr/>
              <a:tblGrid>
                <a:gridCol w="3931920"/>
                <a:gridCol w="6976872"/>
              </a:tblGrid>
              <a:tr h="402336">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Technology / Concept</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How it is used</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r>
              <a:tr h="402336">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C programming language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Main implementation language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02336">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fork()</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Linux process creation (producer and workers)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02336">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waitpid()</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Waits for child processes to complete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02336">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Named FIFO</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Inter-process communication: page requests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02336">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Anonymous pipes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Communication with the algorithm workers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02336">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Round Robin scheduling</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Simulated to order the page requests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02336">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Arrays / data structures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Track pages and frames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402336">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File handling</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Generates the report file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bl>
          </a:graphicData>
        </a:graphic>
      </p:graphicFrame>
      <p:sp>
        <p:nvSpPr>
          <p:cNvPr id="5" name="Text 1"/>
          <p:cNvSpPr txBox="1"/>
          <p:nvPr/>
        </p:nvSpPr>
        <p:spPr>
          <a:xfrm>
            <a:off x="640080" y="5257800"/>
            <a:ext cx="10908792" cy="822960"/>
          </a:xfrm>
          <a:prstGeom prst="rect">
            <a:avLst/>
          </a:prstGeom>
          <a:noFill/>
          <a:ln/>
        </p:spPr>
        <p:txBody>
          <a:bodyPr wrap="square" lIns="0" tIns="0" rIns="0" bIns="0" rtlCol="0" anchor="t"/>
          <a:lstStyle/>
          <a:p>
            <a:pPr algn="l" indent="0" marL="0">
              <a:buNone/>
            </a:pPr>
            <a:r>
              <a:rPr lang="en-US" sz="1800" b="1" dirty="0">
                <a:solidFill>
                  <a:srgbClr val="1A1A1A"/>
                </a:solidFill>
                <a:latin typeface="Calibri" pitchFamily="34" charset="0"/>
                <a:ea typeface="Calibri" pitchFamily="34" charset="-122"/>
                <a:cs typeface="Calibri" pitchFamily="34" charset="-120"/>
              </a:rPr>
              <a:t>Note: Round Robin scheduling and virtual memory are simulated in user space. The project does not modify the real Linux kernel scheduler or page tables.</a:t>
            </a:r>
            <a:endParaRPr lang="en-US" sz="18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Results and Algorithm Comparison</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08792" cy="914400"/>
        </p:xfrm>
        <a:graphic>
          <a:graphicData uri="http://schemas.openxmlformats.org/drawingml/2006/table">
            <a:tbl>
              <a:tblPr/>
              <a:tblGrid>
                <a:gridCol w="1920240"/>
                <a:gridCol w="3685032"/>
                <a:gridCol w="1645920"/>
                <a:gridCol w="1828800"/>
                <a:gridCol w="1828800"/>
              </a:tblGrid>
              <a:tr h="502920">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Algorithm</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Replacement Rule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Page Hits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Page Faults</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Fault Rate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EDEDED"/>
                    </a:solidFill>
                  </a:tcPr>
                </a:tc>
              </a:tr>
              <a:tr h="502920">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FIFO</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Oldest loaded page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502920">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LRU</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Least recently used page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r h="502920">
                <a:tc>
                  <a:txBody>
                    <a:bodyPr/>
                    <a:lstStyle/>
                    <a:p>
                      <a:pPr algn="ctr" indent="0" marL="0">
                        <a:buNone/>
                      </a:pPr>
                      <a:r>
                        <a:rPr lang="en-US" sz="1700" b="1" dirty="0">
                          <a:solidFill>
                            <a:srgbClr val="1A1A1A"/>
                          </a:solidFill>
                          <a:latin typeface="Calibri" pitchFamily="34" charset="0"/>
                          <a:ea typeface="Calibri" pitchFamily="34" charset="-122"/>
                          <a:cs typeface="Calibri" pitchFamily="34" charset="-120"/>
                        </a:rPr>
                        <a:t>Optimal</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Farthest future use</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indent="0" marL="0">
                        <a:buNone/>
                      </a:pPr>
                      <a:r>
                        <a:rPr lang="en-US" sz="1700" dirty="0">
                          <a:solidFill>
                            <a:srgbClr val="1A1A1A"/>
                          </a:solidFill>
                          <a:latin typeface="Calibri" pitchFamily="34" charset="0"/>
                          <a:ea typeface="Calibri" pitchFamily="34" charset="-122"/>
                          <a:cs typeface="Calibri" pitchFamily="34" charset="-120"/>
                        </a:rPr>
                        <a:t>____</a:t>
                      </a:r>
                      <a:endParaRPr lang="en-US" sz="1700" dirty="0">
                        <a:latin typeface="Calibri" charset="0"/>
                        <a:ea typeface="Calibri" charset="0"/>
                        <a:cs typeface="Calibri" charset="0"/>
                      </a:endParaRPr>
                    </a:p>
                  </a:txBody>
                  <a:tcPr marL="91440" marR="91440" marT="45720" marB="4572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r>
            </a:tbl>
          </a:graphicData>
        </a:graphic>
      </p:graphicFrame>
      <p:sp>
        <p:nvSpPr>
          <p:cNvPr id="5" name="Text 1"/>
          <p:cNvSpPr txBox="1"/>
          <p:nvPr/>
        </p:nvSpPr>
        <p:spPr>
          <a:xfrm>
            <a:off x="640080" y="3749040"/>
            <a:ext cx="10908792" cy="2377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A1A1A"/>
                </a:solidFill>
                <a:latin typeface="Calibri" pitchFamily="34" charset="0"/>
                <a:ea typeface="Calibri" pitchFamily="34" charset="-122"/>
                <a:cs typeface="Calibri" pitchFamily="34" charset="-120"/>
              </a:rPr>
              <a:t>Placeholders: fill in from an actual program run (not invented numbers)</a:t>
            </a:r>
            <a:endParaRPr lang="en-US" sz="1800" dirty="0"/>
          </a:p>
          <a:p>
            <a:pPr marL="342900" indent="-342900">
              <a:spcAft>
                <a:spcPts val="600"/>
              </a:spcAft>
              <a:buSzPct val="100000"/>
              <a:buChar char="•"/>
            </a:pPr>
            <a:r>
              <a:rPr lang="en-US" sz="1800" dirty="0">
                <a:solidFill>
                  <a:srgbClr val="1A1A1A"/>
                </a:solidFill>
                <a:latin typeface="Calibri" pitchFamily="34" charset="0"/>
                <a:ea typeface="Calibri" pitchFamily="34" charset="-122"/>
                <a:cs typeface="Calibri" pitchFamily="34" charset="-120"/>
              </a:rPr>
              <a:t>Fault rate = (page faults / total references) x 100</a:t>
            </a:r>
            <a:endParaRPr lang="en-US" sz="1800" dirty="0"/>
          </a:p>
          <a:p>
            <a:pPr marL="342900" indent="-342900">
              <a:spcAft>
                <a:spcPts val="600"/>
              </a:spcAft>
              <a:buSzPct val="100000"/>
              <a:buChar char="•"/>
            </a:pPr>
            <a:r>
              <a:rPr lang="en-US" sz="1800" dirty="0">
                <a:solidFill>
                  <a:srgbClr val="1A1A1A"/>
                </a:solidFill>
                <a:latin typeface="Calibri" pitchFamily="34" charset="0"/>
                <a:ea typeface="Calibri" pitchFamily="34" charset="-122"/>
                <a:cs typeface="Calibri" pitchFamily="34" charset="-120"/>
              </a:rPr>
              <a:t>All three use the same scheduled page-reference sequence and the same number of frames</a:t>
            </a:r>
            <a:endParaRPr lang="en-US" sz="1800" dirty="0"/>
          </a:p>
          <a:p>
            <a:pPr marL="342900" indent="-342900">
              <a:spcAft>
                <a:spcPts val="600"/>
              </a:spcAft>
              <a:buSzPct val="100000"/>
              <a:buChar char="•"/>
            </a:pPr>
            <a:r>
              <a:rPr lang="en-US" sz="1800" dirty="0">
                <a:solidFill>
                  <a:srgbClr val="1A1A1A"/>
                </a:solidFill>
                <a:latin typeface="Calibri" pitchFamily="34" charset="0"/>
                <a:ea typeface="Calibri" pitchFamily="34" charset="-122"/>
                <a:cs typeface="Calibri" pitchFamily="34" charset="-120"/>
              </a:rPr>
              <a:t>Illustration only (slides 5 to 7, 12 requests, 3 frames): FIFO 10 faults, LRU 9, Optimal 7</a:t>
            </a:r>
            <a:endParaRPr lang="en-US" sz="18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Advantages, Limitations and Future Scope</a:t>
            </a:r>
            <a:endParaRPr lang="en-US" sz="3400" dirty="0"/>
          </a:p>
        </p:txBody>
      </p:sp>
      <p:sp>
        <p:nvSpPr>
          <p:cNvPr id="4" name="Text 1"/>
          <p:cNvSpPr txBox="1"/>
          <p:nvPr/>
        </p:nvSpPr>
        <p:spPr>
          <a:xfrm>
            <a:off x="640080" y="1280160"/>
            <a:ext cx="3429000" cy="731520"/>
          </a:xfrm>
          <a:prstGeom prst="rect">
            <a:avLst/>
          </a:prstGeom>
          <a:noFill/>
          <a:ln/>
        </p:spPr>
        <p:txBody>
          <a:bodyPr wrap="square" lIns="0" tIns="0" rIns="0" bIns="0" rtlCol="0" anchor="t"/>
          <a:lstStyle/>
          <a:p>
            <a:pPr algn="l" indent="0" marL="0">
              <a:buNone/>
            </a:pPr>
            <a:r>
              <a:rPr lang="en-US" sz="2000" b="1" dirty="0">
                <a:solidFill>
                  <a:srgbClr val="1A1A1A"/>
                </a:solidFill>
                <a:latin typeface="Calibri" pitchFamily="34" charset="0"/>
                <a:ea typeface="Calibri" pitchFamily="34" charset="-122"/>
                <a:cs typeface="Calibri" pitchFamily="34" charset="-120"/>
              </a:rPr>
              <a:t>Advantages (implemented)</a:t>
            </a:r>
            <a:endParaRPr lang="en-US" sz="2000" dirty="0"/>
          </a:p>
        </p:txBody>
      </p:sp>
      <p:sp>
        <p:nvSpPr>
          <p:cNvPr id="5" name="Text 2"/>
          <p:cNvSpPr txBox="1"/>
          <p:nvPr/>
        </p:nvSpPr>
        <p:spPr>
          <a:xfrm>
            <a:off x="640080" y="2103120"/>
            <a:ext cx="3429000" cy="4023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Makes page replacement easy to understand</a:t>
            </a:r>
            <a:endParaRPr lang="en-US" sz="1700" dirty="0"/>
          </a:p>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Compares 3 algorithms under identical conditions</a:t>
            </a:r>
            <a:endParaRPr lang="en-US" sz="1700" dirty="0"/>
          </a:p>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Tracks hits, faults and replacement details</a:t>
            </a:r>
            <a:endParaRPr lang="en-US" sz="1700" dirty="0"/>
          </a:p>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Supports predefined and custom workloads</a:t>
            </a:r>
            <a:endParaRPr lang="en-US" sz="1700" dirty="0"/>
          </a:p>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Generates a report of the results</a:t>
            </a:r>
            <a:endParaRPr lang="en-US" sz="1700" dirty="0"/>
          </a:p>
        </p:txBody>
      </p:sp>
      <p:sp>
        <p:nvSpPr>
          <p:cNvPr id="6" name="Text 3"/>
          <p:cNvSpPr txBox="1"/>
          <p:nvPr/>
        </p:nvSpPr>
        <p:spPr>
          <a:xfrm>
            <a:off x="4379976" y="1280160"/>
            <a:ext cx="3429000" cy="731520"/>
          </a:xfrm>
          <a:prstGeom prst="rect">
            <a:avLst/>
          </a:prstGeom>
          <a:noFill/>
          <a:ln/>
        </p:spPr>
        <p:txBody>
          <a:bodyPr wrap="square" lIns="0" tIns="0" rIns="0" bIns="0" rtlCol="0" anchor="t"/>
          <a:lstStyle/>
          <a:p>
            <a:pPr algn="l" indent="0" marL="0">
              <a:buNone/>
            </a:pPr>
            <a:r>
              <a:rPr lang="en-US" sz="2000" b="1" dirty="0">
                <a:solidFill>
                  <a:srgbClr val="1A1A1A"/>
                </a:solidFill>
                <a:latin typeface="Calibri" pitchFamily="34" charset="0"/>
                <a:ea typeface="Calibri" pitchFamily="34" charset="-122"/>
                <a:cs typeface="Calibri" pitchFamily="34" charset="-120"/>
              </a:rPr>
              <a:t>Limitations</a:t>
            </a:r>
            <a:endParaRPr lang="en-US" sz="2000" dirty="0"/>
          </a:p>
        </p:txBody>
      </p:sp>
      <p:sp>
        <p:nvSpPr>
          <p:cNvPr id="7" name="Text 4"/>
          <p:cNvSpPr txBox="1"/>
          <p:nvPr/>
        </p:nvSpPr>
        <p:spPr>
          <a:xfrm>
            <a:off x="4379976" y="2103120"/>
            <a:ext cx="3429000" cy="4023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Optimal needs knowledge of future references</a:t>
            </a:r>
            <a:endParaRPr lang="en-US" sz="1700" dirty="0"/>
          </a:p>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Simulates virtual memory; does not change real memory management</a:t>
            </a:r>
            <a:endParaRPr lang="en-US" sz="1700" dirty="0"/>
          </a:p>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Results depend on the workload and frame count</a:t>
            </a:r>
            <a:endParaRPr lang="en-US" sz="1700" dirty="0"/>
          </a:p>
        </p:txBody>
      </p:sp>
      <p:sp>
        <p:nvSpPr>
          <p:cNvPr id="8" name="Text 5"/>
          <p:cNvSpPr txBox="1"/>
          <p:nvPr/>
        </p:nvSpPr>
        <p:spPr>
          <a:xfrm>
            <a:off x="8119872" y="1280160"/>
            <a:ext cx="3429000" cy="731520"/>
          </a:xfrm>
          <a:prstGeom prst="rect">
            <a:avLst/>
          </a:prstGeom>
          <a:noFill/>
          <a:ln/>
        </p:spPr>
        <p:txBody>
          <a:bodyPr wrap="square" lIns="0" tIns="0" rIns="0" bIns="0" rtlCol="0" anchor="t"/>
          <a:lstStyle/>
          <a:p>
            <a:pPr algn="l" indent="0" marL="0">
              <a:buNone/>
            </a:pPr>
            <a:r>
              <a:rPr lang="en-US" sz="2000" b="1" dirty="0">
                <a:solidFill>
                  <a:srgbClr val="1A1A1A"/>
                </a:solidFill>
                <a:latin typeface="Calibri" pitchFamily="34" charset="0"/>
                <a:ea typeface="Calibri" pitchFamily="34" charset="-122"/>
                <a:cs typeface="Calibri" pitchFamily="34" charset="-120"/>
              </a:rPr>
              <a:t>Future Scope (proposed, not implemented)</a:t>
            </a:r>
            <a:endParaRPr lang="en-US" sz="2000" dirty="0"/>
          </a:p>
        </p:txBody>
      </p:sp>
      <p:sp>
        <p:nvSpPr>
          <p:cNvPr id="9" name="Text 6"/>
          <p:cNvSpPr txBox="1"/>
          <p:nvPr/>
        </p:nvSpPr>
        <p:spPr>
          <a:xfrm>
            <a:off x="8119872" y="2103120"/>
            <a:ext cx="3429000" cy="4023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Interactive graphical user interface</a:t>
            </a:r>
            <a:endParaRPr lang="en-US" sz="1700" dirty="0"/>
          </a:p>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More page replacement algorithms</a:t>
            </a:r>
            <a:endParaRPr lang="en-US" sz="1700" dirty="0"/>
          </a:p>
          <a:p>
            <a:pPr marL="342900" indent="-342900">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Larger workloads and more detailed performance analysis</a:t>
            </a:r>
            <a:endParaRPr lang="en-US" sz="17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73152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Conclusion</a:t>
            </a:r>
            <a:endParaRPr lang="en-US" sz="3400" dirty="0"/>
          </a:p>
        </p:txBody>
      </p:sp>
      <p:sp>
        <p:nvSpPr>
          <p:cNvPr id="4" name="Text 1"/>
          <p:cNvSpPr txBox="1"/>
          <p:nvPr/>
        </p:nvSpPr>
        <p:spPr>
          <a:xfrm>
            <a:off x="640080" y="1325880"/>
            <a:ext cx="10908792" cy="347472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A1A1A"/>
                </a:solidFill>
                <a:latin typeface="Calibri" pitchFamily="34" charset="0"/>
                <a:ea typeface="Calibri" pitchFamily="34" charset="-122"/>
                <a:cs typeface="Calibri" pitchFamily="34" charset="-120"/>
              </a:rPr>
              <a:t>Page replacement decides which page to remove when memory frames are full</a:t>
            </a:r>
            <a:endParaRPr lang="en-US" sz="2200" dirty="0"/>
          </a:p>
          <a:p>
            <a:pPr marL="342900" indent="-342900">
              <a:spcAft>
                <a:spcPts val="1200"/>
              </a:spcAft>
              <a:buSzPct val="100000"/>
              <a:buChar char="•"/>
            </a:pPr>
            <a:r>
              <a:rPr lang="en-US" sz="2200" dirty="0">
                <a:solidFill>
                  <a:srgbClr val="1A1A1A"/>
                </a:solidFill>
                <a:latin typeface="Calibri" pitchFamily="34" charset="0"/>
                <a:ea typeface="Calibri" pitchFamily="34" charset="-122"/>
                <a:cs typeface="Calibri" pitchFamily="34" charset="-120"/>
              </a:rPr>
              <a:t>FIFO uses loading order, LRU uses recent usage, Optimal uses future use</a:t>
            </a:r>
            <a:endParaRPr lang="en-US" sz="2200" dirty="0"/>
          </a:p>
          <a:p>
            <a:pPr marL="342900" indent="-342900">
              <a:spcAft>
                <a:spcPts val="1200"/>
              </a:spcAft>
              <a:buSzPct val="100000"/>
              <a:buChar char="•"/>
            </a:pPr>
            <a:r>
              <a:rPr lang="en-US" sz="2200" dirty="0">
                <a:solidFill>
                  <a:srgbClr val="1A1A1A"/>
                </a:solidFill>
                <a:latin typeface="Calibri" pitchFamily="34" charset="0"/>
                <a:ea typeface="Calibri" pitchFamily="34" charset="-122"/>
                <a:cs typeface="Calibri" pitchFamily="34" charset="-120"/>
              </a:rPr>
              <a:t>Page faults help us evaluate how well each algorithm performs</a:t>
            </a:r>
            <a:endParaRPr lang="en-US" sz="2200" dirty="0"/>
          </a:p>
          <a:p>
            <a:pPr marL="342900" indent="-342900">
              <a:spcAft>
                <a:spcPts val="1200"/>
              </a:spcAft>
              <a:buSzPct val="100000"/>
              <a:buChar char="•"/>
            </a:pPr>
            <a:r>
              <a:rPr lang="en-US" sz="2200" dirty="0">
                <a:solidFill>
                  <a:srgbClr val="1A1A1A"/>
                </a:solidFill>
                <a:latin typeface="Calibri" pitchFamily="34" charset="0"/>
                <a:ea typeface="Calibri" pitchFamily="34" charset="-122"/>
                <a:cs typeface="Calibri" pitchFamily="34" charset="-120"/>
              </a:rPr>
              <a:t>The project demonstrates operating-system concepts (processes, pipes, FIFO, scheduling) through simulation</a:t>
            </a:r>
            <a:endParaRPr lang="en-US" sz="2200" dirty="0"/>
          </a:p>
        </p:txBody>
      </p:sp>
      <p:sp>
        <p:nvSpPr>
          <p:cNvPr id="5" name="Text 2"/>
          <p:cNvSpPr txBox="1"/>
          <p:nvPr/>
        </p:nvSpPr>
        <p:spPr>
          <a:xfrm>
            <a:off x="640080" y="5029200"/>
            <a:ext cx="10908792" cy="914400"/>
          </a:xfrm>
          <a:prstGeom prst="rect">
            <a:avLst/>
          </a:prstGeom>
          <a:noFill/>
          <a:ln/>
        </p:spPr>
        <p:txBody>
          <a:bodyPr wrap="square" lIns="0" tIns="0" rIns="0" bIns="0" rtlCol="0" anchor="ctr"/>
          <a:lstStyle/>
          <a:p>
            <a:pPr algn="ctr" indent="0" marL="0">
              <a:buNone/>
            </a:pPr>
            <a:r>
              <a:rPr lang="en-US" sz="4000" b="1" dirty="0">
                <a:solidFill>
                  <a:srgbClr val="1A1A1A"/>
                </a:solidFill>
                <a:latin typeface="Calibri" pitchFamily="34" charset="0"/>
                <a:ea typeface="Calibri" pitchFamily="34" charset="-122"/>
                <a:cs typeface="Calibri" pitchFamily="34" charset="-120"/>
              </a:rPr>
              <a:t>Thank You – Questions?</a:t>
            </a:r>
            <a:endParaRPr lang="en-US" sz="4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9595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Memory Page Replacement Visualizer</dc:title>
  <dc:subject>PptxGenJS Presentation</dc:subject>
  <dc:creator>Bolla Gopika Sai Sri Varshini, Gottipati Eesha Yuktha, Vanam Hamsini</dc:creator>
  <cp:lastModifiedBy>Bolla Gopika Sai Sri Varshini, Gottipati Eesha Yuktha, Vanam Hamsini</cp:lastModifiedBy>
  <cp:revision>1</cp:revision>
  <dcterms:created xsi:type="dcterms:W3CDTF">2026-10-17T05:08:48Z</dcterms:created>
  <dcterms:modified xsi:type="dcterms:W3CDTF">2026-10-17T05:08:48Z</dcterms:modified>
</cp:coreProperties>
</file>